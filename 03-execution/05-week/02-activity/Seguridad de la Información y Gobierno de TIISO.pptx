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sz="3600" dirty="0"/>
              <a:t>Seguridad de la Información y Gobierno de TIISO/IEC 27001 y COBIT 5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Actividad formativa – Seguridad de la </a:t>
            </a:r>
            <a:r>
              <a:rPr lang="es-CO" dirty="0" smtClean="0"/>
              <a:t>Información</a:t>
            </a:r>
          </a:p>
          <a:p>
            <a:r>
              <a:rPr lang="es-CO" b="1" dirty="0"/>
              <a:t>Expositor: </a:t>
            </a:r>
            <a:r>
              <a:rPr lang="es-CO" dirty="0"/>
              <a:t>Juan Esteban </a:t>
            </a:r>
            <a:r>
              <a:rPr lang="es-CO" dirty="0" smtClean="0"/>
              <a:t>Cortes</a:t>
            </a:r>
          </a:p>
          <a:p>
            <a:r>
              <a:rPr lang="es-CO" b="1" dirty="0" smtClean="0"/>
              <a:t>Programa</a:t>
            </a:r>
            <a:r>
              <a:rPr lang="es-CO" b="1" dirty="0"/>
              <a:t>: </a:t>
            </a:r>
            <a:r>
              <a:rPr lang="es-CO" dirty="0"/>
              <a:t>ADSO – SENA</a:t>
            </a:r>
          </a:p>
        </p:txBody>
      </p:sp>
    </p:spTree>
    <p:extLst>
      <p:ext uri="{BB962C8B-B14F-4D97-AF65-F5344CB8AC3E}">
        <p14:creationId xmlns:p14="http://schemas.microsoft.com/office/powerpoint/2010/main" val="198277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Contexto del incidente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En un entorno académico ocurrió el siguiente caso</a:t>
            </a:r>
            <a:r>
              <a:rPr lang="es-CO" dirty="0" smtClean="0"/>
              <a:t>:</a:t>
            </a:r>
          </a:p>
          <a:p>
            <a:r>
              <a:rPr lang="es-CO" dirty="0" smtClean="0"/>
              <a:t>Un </a:t>
            </a:r>
            <a:r>
              <a:rPr lang="es-CO" dirty="0"/>
              <a:t>aprendiz dejó su cuenta abierta en un computador </a:t>
            </a:r>
            <a:r>
              <a:rPr lang="es-CO" dirty="0" smtClean="0"/>
              <a:t>compartido</a:t>
            </a:r>
          </a:p>
          <a:p>
            <a:r>
              <a:rPr lang="es-CO" dirty="0" smtClean="0"/>
              <a:t>Otro </a:t>
            </a:r>
            <a:r>
              <a:rPr lang="es-CO" dirty="0"/>
              <a:t>usuario utilizó esa </a:t>
            </a:r>
            <a:r>
              <a:rPr lang="es-CO" dirty="0" smtClean="0"/>
              <a:t>sesión</a:t>
            </a:r>
          </a:p>
          <a:p>
            <a:r>
              <a:rPr lang="es-CO" dirty="0" smtClean="0"/>
              <a:t>Se </a:t>
            </a:r>
            <a:r>
              <a:rPr lang="es-CO" dirty="0"/>
              <a:t>realizaron acciones sobre un </a:t>
            </a:r>
            <a:r>
              <a:rPr lang="es-CO" dirty="0" smtClean="0"/>
              <a:t>repositorio</a:t>
            </a:r>
          </a:p>
          <a:p>
            <a:r>
              <a:rPr lang="es-CO" dirty="0" smtClean="0"/>
              <a:t>Todas </a:t>
            </a:r>
            <a:r>
              <a:rPr lang="es-CO" dirty="0"/>
              <a:t>las acciones quedaron registradas con la cuenta </a:t>
            </a:r>
            <a:r>
              <a:rPr lang="es-CO" dirty="0" smtClean="0"/>
              <a:t>autenticada</a:t>
            </a:r>
          </a:p>
          <a:p>
            <a:pPr marL="0" indent="0">
              <a:buNone/>
            </a:pPr>
            <a:r>
              <a:rPr lang="es-CO" dirty="0" smtClean="0"/>
              <a:t>Esto </a:t>
            </a:r>
            <a:r>
              <a:rPr lang="es-CO" dirty="0"/>
              <a:t>representa un riesgo de seguridad de la información.</a:t>
            </a:r>
          </a:p>
        </p:txBody>
      </p:sp>
      <p:pic>
        <p:nvPicPr>
          <p:cNvPr id="4100" name="Picture 4" descr="Con la compra de GitHub, Microsoft hace honor a su mantra: desarrolladores,  desarrolladores, desarroll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812" y="5068389"/>
            <a:ext cx="2945188" cy="178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1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¿Por qué es un problema?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Cuando una sesión queda abierta:</a:t>
            </a:r>
          </a:p>
          <a:p>
            <a:r>
              <a:rPr lang="es-CO" dirty="0"/>
              <a:t>Otra persona puede acceder a información privada</a:t>
            </a:r>
          </a:p>
          <a:p>
            <a:r>
              <a:rPr lang="es-CO" dirty="0"/>
              <a:t>Puede modificar archivos o repositorios</a:t>
            </a:r>
          </a:p>
          <a:p>
            <a:r>
              <a:rPr lang="es-CO" dirty="0"/>
              <a:t>Las acciones quedan registradas como si las hubiera hecho el dueño de la cuenta</a:t>
            </a:r>
          </a:p>
          <a:p>
            <a:r>
              <a:rPr lang="es-CO" dirty="0"/>
              <a:t>Se compromete la responsabilidad digital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6827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la Seguridad de la Información?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</a:t>
            </a:r>
            <a:r>
              <a:rPr lang="es-CO" b="1" dirty="0"/>
              <a:t>seguridad de la información</a:t>
            </a:r>
            <a:r>
              <a:rPr lang="es-CO" dirty="0"/>
              <a:t> es el conjunto de prácticas, procesos y tecnologías diseñadas para:</a:t>
            </a:r>
          </a:p>
          <a:p>
            <a:r>
              <a:rPr lang="es-CO" dirty="0"/>
              <a:t>Proteger la información</a:t>
            </a:r>
          </a:p>
          <a:p>
            <a:r>
              <a:rPr lang="es-CO" dirty="0"/>
              <a:t>Evitar accesos no autorizados</a:t>
            </a:r>
          </a:p>
          <a:p>
            <a:r>
              <a:rPr lang="es-CO" dirty="0"/>
              <a:t>Garantizar que los datos sean confiables</a:t>
            </a:r>
          </a:p>
          <a:p>
            <a:r>
              <a:rPr lang="es-CO" dirty="0"/>
              <a:t>Mantener la disponibilidad de los sistemas</a:t>
            </a:r>
          </a:p>
          <a:p>
            <a:pPr marL="0" indent="0">
              <a:buNone/>
            </a:pPr>
            <a:r>
              <a:rPr lang="es-CO" dirty="0"/>
              <a:t>Es fundamental en organizaciones, empresas y desarrollo de software.</a:t>
            </a:r>
          </a:p>
          <a:p>
            <a:endParaRPr lang="es-CO" dirty="0"/>
          </a:p>
        </p:txBody>
      </p:sp>
      <p:pic>
        <p:nvPicPr>
          <p:cNvPr id="7170" name="Picture 2" descr="Seguridad de la Información: Historia, Terminología y Campo de acció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5" y="4970992"/>
            <a:ext cx="2524125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1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Principios de la seguridad de la información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La seguridad de la información se basa en tres pilares fundamentales</a:t>
            </a:r>
            <a:r>
              <a:rPr lang="es-CO" dirty="0" smtClean="0"/>
              <a:t>:</a:t>
            </a:r>
          </a:p>
          <a:p>
            <a:r>
              <a:rPr lang="es-CO" dirty="0" smtClean="0"/>
              <a:t>Confidencialidad</a:t>
            </a:r>
          </a:p>
          <a:p>
            <a:r>
              <a:rPr lang="es-CO" dirty="0" smtClean="0"/>
              <a:t>Integridad</a:t>
            </a:r>
          </a:p>
          <a:p>
            <a:r>
              <a:rPr lang="es-CO" dirty="0" smtClean="0"/>
              <a:t>Disponibilidad</a:t>
            </a:r>
          </a:p>
          <a:p>
            <a:pPr marL="0" indent="0">
              <a:buNone/>
            </a:pPr>
            <a:r>
              <a:rPr lang="es-CO" dirty="0"/>
              <a:t>Estos principios también se conocen como el </a:t>
            </a:r>
            <a:r>
              <a:rPr lang="es-CO" b="1" dirty="0"/>
              <a:t>modelo CIA</a:t>
            </a:r>
            <a:r>
              <a:rPr lang="es-CO" dirty="0"/>
              <a:t>.</a:t>
            </a:r>
          </a:p>
        </p:txBody>
      </p:sp>
      <p:pic>
        <p:nvPicPr>
          <p:cNvPr id="1029" name="Picture 5" descr="The CIA Triad: Confidentiality, Integrity, Availability Explained for  Developers | by Shaun Fulton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9" r="16776"/>
          <a:stretch/>
        </p:blipFill>
        <p:spPr bwMode="auto">
          <a:xfrm>
            <a:off x="9195326" y="4303485"/>
            <a:ext cx="2996674" cy="255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86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Confidencialidad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</a:t>
            </a:r>
            <a:r>
              <a:rPr lang="es-CO" b="1" dirty="0"/>
              <a:t>confidencialidad</a:t>
            </a:r>
            <a:r>
              <a:rPr lang="es-CO" dirty="0"/>
              <a:t> garantiza que la información solo sea accesible para personas autorizadas.</a:t>
            </a:r>
          </a:p>
          <a:p>
            <a:pPr marL="0" indent="0">
              <a:buNone/>
            </a:pPr>
            <a:r>
              <a:rPr lang="es-CO" b="1" dirty="0"/>
              <a:t>Ejemplos:</a:t>
            </a:r>
          </a:p>
          <a:p>
            <a:r>
              <a:rPr lang="es-CO" dirty="0"/>
              <a:t>Acceso privado a repositorios</a:t>
            </a:r>
          </a:p>
          <a:p>
            <a:r>
              <a:rPr lang="es-CO" dirty="0"/>
              <a:t>Contraseñas seguras</a:t>
            </a:r>
          </a:p>
          <a:p>
            <a:r>
              <a:rPr lang="es-CO" dirty="0"/>
              <a:t>Autenticación de usuarios</a:t>
            </a:r>
          </a:p>
          <a:p>
            <a:r>
              <a:rPr lang="es-CO" dirty="0"/>
              <a:t>Protección de datos personales</a:t>
            </a:r>
          </a:p>
          <a:p>
            <a:endParaRPr lang="es-CO" dirty="0"/>
          </a:p>
        </p:txBody>
      </p:sp>
      <p:pic>
        <p:nvPicPr>
          <p:cNvPr id="8196" name="Picture 4" descr="Claves sobre la cláusula de confidenciali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17" y="4054959"/>
            <a:ext cx="5164183" cy="289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29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Integridad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</a:t>
            </a:r>
            <a:r>
              <a:rPr lang="es-CO" b="1" dirty="0"/>
              <a:t>integridad</a:t>
            </a:r>
            <a:r>
              <a:rPr lang="es-CO" dirty="0"/>
              <a:t> asegura que la información no sea modificada de forma no autorizada.</a:t>
            </a:r>
          </a:p>
          <a:p>
            <a:pPr marL="0" indent="0">
              <a:buNone/>
            </a:pPr>
            <a:r>
              <a:rPr lang="es-CO" b="1" dirty="0"/>
              <a:t>Ejemplos:</a:t>
            </a:r>
          </a:p>
          <a:p>
            <a:r>
              <a:rPr lang="es-CO" dirty="0"/>
              <a:t>Control de versiones en repositorios</a:t>
            </a:r>
          </a:p>
          <a:p>
            <a:r>
              <a:rPr lang="es-CO" dirty="0"/>
              <a:t>Registros de cambios</a:t>
            </a:r>
          </a:p>
          <a:p>
            <a:r>
              <a:rPr lang="es-CO" dirty="0"/>
              <a:t>Auditoría de actividades</a:t>
            </a:r>
          </a:p>
          <a:p>
            <a:r>
              <a:rPr lang="es-CO" dirty="0"/>
              <a:t>Validación de datos</a:t>
            </a:r>
          </a:p>
          <a:p>
            <a:endParaRPr lang="es-CO" dirty="0"/>
          </a:p>
        </p:txBody>
      </p:sp>
      <p:pic>
        <p:nvPicPr>
          <p:cNvPr id="9218" name="Picture 2" descr="Integridad: qué es y significado - Enciclopedia Signific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887" y="4166154"/>
            <a:ext cx="2656114" cy="269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76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Disponibilidad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</a:t>
            </a:r>
            <a:r>
              <a:rPr lang="es-CO" b="1" dirty="0"/>
              <a:t>disponibilidad</a:t>
            </a:r>
            <a:r>
              <a:rPr lang="es-CO" dirty="0"/>
              <a:t> significa que la información debe estar accesible cuando los usuarios autorizados la necesiten.</a:t>
            </a:r>
          </a:p>
          <a:p>
            <a:pPr marL="0" indent="0">
              <a:buNone/>
            </a:pPr>
            <a:r>
              <a:rPr lang="es-CO" b="1" dirty="0"/>
              <a:t>Ejemplos:</a:t>
            </a:r>
          </a:p>
          <a:p>
            <a:r>
              <a:rPr lang="es-CO" dirty="0"/>
              <a:t>Sistemas en funcionamiento</a:t>
            </a:r>
          </a:p>
          <a:p>
            <a:r>
              <a:rPr lang="es-CO" dirty="0"/>
              <a:t>Servidores disponibles</a:t>
            </a:r>
          </a:p>
          <a:p>
            <a:r>
              <a:rPr lang="es-CO" dirty="0"/>
              <a:t>Copias de seguridad</a:t>
            </a:r>
          </a:p>
          <a:p>
            <a:r>
              <a:rPr lang="es-CO" dirty="0"/>
              <a:t>Infraestructura confiable</a:t>
            </a:r>
          </a:p>
          <a:p>
            <a:endParaRPr lang="es-CO" dirty="0"/>
          </a:p>
        </p:txBody>
      </p:sp>
      <p:pic>
        <p:nvPicPr>
          <p:cNvPr id="10242" name="Picture 2" descr="Disponibilidad de recursos: definición y desafíos ‣ Stafi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915" y="4264665"/>
            <a:ext cx="3897086" cy="259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26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Amenazas comunes en entornos digitales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Algunas amenazas frecuentes incluyen:</a:t>
            </a:r>
          </a:p>
          <a:p>
            <a:r>
              <a:rPr lang="es-CO" dirty="0"/>
              <a:t>Robo de credenciales</a:t>
            </a:r>
          </a:p>
          <a:p>
            <a:r>
              <a:rPr lang="es-CO" dirty="0"/>
              <a:t>Phishing</a:t>
            </a:r>
          </a:p>
          <a:p>
            <a:r>
              <a:rPr lang="es-CO" dirty="0"/>
              <a:t>Ingeniería social</a:t>
            </a:r>
          </a:p>
          <a:p>
            <a:r>
              <a:rPr lang="es-CO" dirty="0"/>
              <a:t>Accesos no autorizados</a:t>
            </a:r>
          </a:p>
          <a:p>
            <a:r>
              <a:rPr lang="es-CO" dirty="0"/>
              <a:t>Sesiones abiertas en computadores compartidos</a:t>
            </a:r>
          </a:p>
          <a:p>
            <a:endParaRPr lang="es-CO" dirty="0"/>
          </a:p>
        </p:txBody>
      </p:sp>
      <p:pic>
        <p:nvPicPr>
          <p:cNvPr id="11266" name="Picture 2" descr="Protege tu pyme: las 10 amenazas online más frecuentes - Dinaho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4417590"/>
            <a:ext cx="4270919" cy="240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24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ISO/IEC 27001?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b="1" dirty="0"/>
              <a:t>ISO/IEC 27001</a:t>
            </a:r>
            <a:r>
              <a:rPr lang="es-CO" dirty="0"/>
              <a:t> es un estándar internacional para la gestión de la seguridad de la información.</a:t>
            </a:r>
          </a:p>
          <a:p>
            <a:pPr marL="0" indent="0">
              <a:buNone/>
            </a:pPr>
            <a:r>
              <a:rPr lang="es-CO" dirty="0"/>
              <a:t>Su objetivo es:</a:t>
            </a:r>
          </a:p>
          <a:p>
            <a:r>
              <a:rPr lang="es-CO" dirty="0"/>
              <a:t>Proteger los activos de información</a:t>
            </a:r>
          </a:p>
          <a:p>
            <a:r>
              <a:rPr lang="es-CO" dirty="0"/>
              <a:t>Gestionar riesgos de seguridad</a:t>
            </a:r>
          </a:p>
          <a:p>
            <a:r>
              <a:rPr lang="es-CO" dirty="0"/>
              <a:t>Establecer políticas y controles de seguridad</a:t>
            </a:r>
          </a:p>
          <a:p>
            <a:pPr marL="0" indent="0">
              <a:buNone/>
            </a:pPr>
            <a:r>
              <a:rPr lang="es-CO" dirty="0"/>
              <a:t>Muchas empresas utilizan este estándar para proteger sus sistemas.</a:t>
            </a:r>
          </a:p>
          <a:p>
            <a:endParaRPr lang="es-CO" dirty="0"/>
          </a:p>
        </p:txBody>
      </p:sp>
      <p:pic>
        <p:nvPicPr>
          <p:cNvPr id="12290" name="Picture 2" descr="Norma ISO / IEC 27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765" y="2946172"/>
            <a:ext cx="4138236" cy="201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20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Sistema de Gestión de Seguridad de la Información (SGSI)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Un </a:t>
            </a:r>
            <a:r>
              <a:rPr lang="es-CO" b="1" dirty="0"/>
              <a:t>SGSI</a:t>
            </a:r>
            <a:r>
              <a:rPr lang="es-CO" dirty="0"/>
              <a:t> es un sistema que permite gestionar la seguridad de la información dentro de una organización.</a:t>
            </a:r>
          </a:p>
          <a:p>
            <a:pPr marL="0" indent="0">
              <a:buNone/>
            </a:pPr>
            <a:r>
              <a:rPr lang="es-CO" dirty="0"/>
              <a:t>Incluye:</a:t>
            </a:r>
          </a:p>
          <a:p>
            <a:r>
              <a:rPr lang="es-CO" dirty="0"/>
              <a:t>Políticas de seguridad</a:t>
            </a:r>
          </a:p>
          <a:p>
            <a:r>
              <a:rPr lang="es-CO" dirty="0"/>
              <a:t>Procesos de gestión</a:t>
            </a:r>
          </a:p>
          <a:p>
            <a:r>
              <a:rPr lang="es-CO" dirty="0"/>
              <a:t>Controles de seguridad</a:t>
            </a:r>
          </a:p>
          <a:p>
            <a:r>
              <a:rPr lang="es-CO" dirty="0"/>
              <a:t>Evaluación de riesgos</a:t>
            </a:r>
          </a:p>
          <a:p>
            <a:r>
              <a:rPr lang="es-CO" dirty="0"/>
              <a:t>Mejora continua</a:t>
            </a:r>
          </a:p>
          <a:p>
            <a:endParaRPr lang="es-CO" dirty="0"/>
          </a:p>
        </p:txBody>
      </p:sp>
      <p:pic>
        <p:nvPicPr>
          <p:cNvPr id="13316" name="Picture 4" descr="Sistema de gestión de seguridad de la información: qué es y sus etap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4171949"/>
            <a:ext cx="6734175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17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Ciclo de mejora continua (PDCA)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El SGSI utiliza el ciclo </a:t>
            </a:r>
            <a:r>
              <a:rPr lang="es-CO" b="1" dirty="0"/>
              <a:t>PDCA</a:t>
            </a:r>
            <a:r>
              <a:rPr lang="es-CO" dirty="0"/>
              <a:t>:</a:t>
            </a:r>
          </a:p>
          <a:p>
            <a:r>
              <a:rPr lang="es-CO" b="1" dirty="0"/>
              <a:t>Plan (Planificar)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Definir políticas y controles de seguridad.</a:t>
            </a:r>
          </a:p>
          <a:p>
            <a:r>
              <a:rPr lang="es-CO" b="1" dirty="0"/>
              <a:t>Do (Hacer)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Implementar los controles.</a:t>
            </a:r>
          </a:p>
          <a:p>
            <a:r>
              <a:rPr lang="es-CO" b="1" dirty="0"/>
              <a:t>Check (Verificar)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Evaluar si los controles funcionan.</a:t>
            </a:r>
          </a:p>
          <a:p>
            <a:r>
              <a:rPr lang="es-CO" b="1" dirty="0"/>
              <a:t>Act (Actuar)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Realizar mejoras.</a:t>
            </a:r>
          </a:p>
          <a:p>
            <a:endParaRPr lang="es-CO" dirty="0"/>
          </a:p>
        </p:txBody>
      </p:sp>
      <p:pic>
        <p:nvPicPr>
          <p:cNvPr id="14338" name="Picture 2" descr="Qué es el Ciclo PDCA y cómo usarlo en su gestión de calidad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730" y="3536260"/>
            <a:ext cx="6013269" cy="332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35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Controles de seguridad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ISO 27001 define controles como:</a:t>
            </a:r>
          </a:p>
          <a:p>
            <a:r>
              <a:rPr lang="es-CO" dirty="0"/>
              <a:t>Control de accesos</a:t>
            </a:r>
          </a:p>
          <a:p>
            <a:r>
              <a:rPr lang="es-CO" dirty="0"/>
              <a:t>Gestión de contraseñas</a:t>
            </a:r>
          </a:p>
          <a:p>
            <a:r>
              <a:rPr lang="es-CO" dirty="0"/>
              <a:t>Autenticación segura</a:t>
            </a:r>
          </a:p>
          <a:p>
            <a:r>
              <a:rPr lang="es-CO" dirty="0"/>
              <a:t>Monitoreo de actividades</a:t>
            </a:r>
          </a:p>
          <a:p>
            <a:r>
              <a:rPr lang="es-CO" dirty="0"/>
              <a:t>Gestión de incidentes de seguridad</a:t>
            </a:r>
          </a:p>
          <a:p>
            <a:endParaRPr lang="es-CO" dirty="0"/>
          </a:p>
        </p:txBody>
      </p:sp>
      <p:pic>
        <p:nvPicPr>
          <p:cNvPr id="15362" name="Picture 2" descr="Tipos de Control de Seguri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72" y="3448595"/>
            <a:ext cx="6243728" cy="340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71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Control de accesos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El control de accesos permite:</a:t>
            </a:r>
          </a:p>
          <a:p>
            <a:r>
              <a:rPr lang="es-CO" dirty="0"/>
              <a:t>Limitar quién puede acceder a la información</a:t>
            </a:r>
          </a:p>
          <a:p>
            <a:r>
              <a:rPr lang="es-CO" dirty="0"/>
              <a:t>Definir permisos según el rol</a:t>
            </a:r>
          </a:p>
          <a:p>
            <a:r>
              <a:rPr lang="es-CO" dirty="0"/>
              <a:t>Proteger sistemas y repositorios</a:t>
            </a:r>
          </a:p>
          <a:p>
            <a:pPr marL="0" indent="0">
              <a:buNone/>
            </a:pPr>
            <a:r>
              <a:rPr lang="es-CO" dirty="0"/>
              <a:t>Un concepto importante es el </a:t>
            </a:r>
            <a:r>
              <a:rPr lang="es-CO" b="1" dirty="0"/>
              <a:t>principio de mínimo privilegio</a:t>
            </a:r>
            <a:r>
              <a:rPr lang="es-CO" dirty="0"/>
              <a:t>.</a:t>
            </a:r>
          </a:p>
          <a:p>
            <a:endParaRPr lang="es-CO" dirty="0"/>
          </a:p>
        </p:txBody>
      </p:sp>
      <p:pic>
        <p:nvPicPr>
          <p:cNvPr id="16386" name="Picture 2" descr="Principales Funciones del Control de Acces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461" y="2138440"/>
            <a:ext cx="3726539" cy="248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062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Principio de mínimo privilegio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 smtClean="0"/>
              <a:t>Este </a:t>
            </a:r>
            <a:r>
              <a:rPr lang="es-CO" dirty="0"/>
              <a:t>principio establece que:</a:t>
            </a:r>
          </a:p>
          <a:p>
            <a:pPr marL="0" indent="0">
              <a:buNone/>
            </a:pPr>
            <a:r>
              <a:rPr lang="es-CO" dirty="0"/>
              <a:t>Cada usuario debe tener </a:t>
            </a:r>
            <a:r>
              <a:rPr lang="es-CO" b="1" dirty="0"/>
              <a:t>solo los permisos necesarios para realizar su trabajo</a:t>
            </a:r>
            <a:r>
              <a:rPr lang="es-CO" dirty="0"/>
              <a:t>.</a:t>
            </a:r>
          </a:p>
          <a:p>
            <a:pPr marL="0" indent="0">
              <a:buNone/>
            </a:pPr>
            <a:r>
              <a:rPr lang="es-CO" b="1" dirty="0"/>
              <a:t>Beneficios:</a:t>
            </a:r>
          </a:p>
          <a:p>
            <a:r>
              <a:rPr lang="es-CO" dirty="0"/>
              <a:t>Reduce riesgos de seguridad</a:t>
            </a:r>
          </a:p>
          <a:p>
            <a:r>
              <a:rPr lang="es-CO" dirty="0"/>
              <a:t>Limita el impacto de errores o ataques</a:t>
            </a:r>
          </a:p>
          <a:p>
            <a:r>
              <a:rPr lang="es-CO" dirty="0"/>
              <a:t>Mejora el control de sistemas</a:t>
            </a:r>
          </a:p>
        </p:txBody>
      </p:sp>
      <p:pic>
        <p:nvPicPr>
          <p:cNvPr id="17410" name="Picture 2" descr="Principio de mínimo privilegio - OSTEC | Segurança digital de result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887" y="3867995"/>
            <a:ext cx="5196114" cy="299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50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COBIT 5?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b="1" dirty="0"/>
              <a:t>COBIT 5</a:t>
            </a:r>
            <a:r>
              <a:rPr lang="es-CO" dirty="0"/>
              <a:t> es un marco de trabajo para el </a:t>
            </a:r>
            <a:r>
              <a:rPr lang="es-CO" b="1" dirty="0"/>
              <a:t>gobierno y la gestión de tecnologías de información (TI)</a:t>
            </a:r>
            <a:r>
              <a:rPr lang="es-CO" dirty="0"/>
              <a:t>.</a:t>
            </a:r>
          </a:p>
          <a:p>
            <a:pPr marL="0" indent="0">
              <a:buNone/>
            </a:pPr>
            <a:r>
              <a:rPr lang="es-CO" dirty="0"/>
              <a:t>Ayuda a las organizaciones a:</a:t>
            </a:r>
          </a:p>
          <a:p>
            <a:r>
              <a:rPr lang="es-CO" dirty="0"/>
              <a:t>Administrar mejor sus recursos tecnológicos</a:t>
            </a:r>
          </a:p>
          <a:p>
            <a:r>
              <a:rPr lang="es-CO" dirty="0"/>
              <a:t>Alinear TI con los objetivos del negocio</a:t>
            </a:r>
          </a:p>
          <a:p>
            <a:r>
              <a:rPr lang="es-CO" dirty="0"/>
              <a:t>Controlar riesgos tecnológicos</a:t>
            </a:r>
          </a:p>
          <a:p>
            <a:endParaRPr lang="es-CO" dirty="0"/>
          </a:p>
        </p:txBody>
      </p:sp>
      <p:pic>
        <p:nvPicPr>
          <p:cNvPr id="18434" name="Picture 2" descr="Tecnologia: COB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086" y="4061968"/>
            <a:ext cx="4992914" cy="279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98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Gobierno de TI vs Gestión de TI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58091" y="2556932"/>
            <a:ext cx="9838506" cy="35695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1600" b="1" dirty="0"/>
              <a:t>Gobierno de TI</a:t>
            </a:r>
            <a:endParaRPr lang="es-CO" sz="1600" dirty="0"/>
          </a:p>
          <a:p>
            <a:pPr marL="0" indent="0">
              <a:buNone/>
            </a:pPr>
            <a:r>
              <a:rPr lang="es-CO" sz="1600" dirty="0"/>
              <a:t>Define:</a:t>
            </a:r>
          </a:p>
          <a:p>
            <a:r>
              <a:rPr lang="es-CO" sz="1600" dirty="0"/>
              <a:t>dirección estratégica</a:t>
            </a:r>
          </a:p>
          <a:p>
            <a:r>
              <a:rPr lang="es-CO" sz="1600" dirty="0"/>
              <a:t>políticas</a:t>
            </a:r>
          </a:p>
          <a:p>
            <a:r>
              <a:rPr lang="es-CO" sz="1600" dirty="0"/>
              <a:t>objetivos</a:t>
            </a:r>
          </a:p>
          <a:p>
            <a:pPr marL="0" indent="0">
              <a:buNone/>
            </a:pPr>
            <a:r>
              <a:rPr lang="es-CO" sz="1600" b="1" dirty="0"/>
              <a:t>Gestión de TI</a:t>
            </a:r>
            <a:endParaRPr lang="es-CO" sz="1600" dirty="0"/>
          </a:p>
          <a:p>
            <a:pPr marL="0" indent="0">
              <a:buNone/>
            </a:pPr>
            <a:r>
              <a:rPr lang="es-CO" sz="1600" dirty="0"/>
              <a:t>Se encarga de:</a:t>
            </a:r>
          </a:p>
          <a:p>
            <a:r>
              <a:rPr lang="es-CO" sz="1600" dirty="0"/>
              <a:t>ejecutar procesos</a:t>
            </a:r>
          </a:p>
          <a:p>
            <a:r>
              <a:rPr lang="es-CO" sz="1600" dirty="0"/>
              <a:t>operar sistemas</a:t>
            </a:r>
          </a:p>
          <a:p>
            <a:r>
              <a:rPr lang="es-CO" sz="1600" dirty="0"/>
              <a:t>implementar tecnología</a:t>
            </a:r>
          </a:p>
          <a:p>
            <a:endParaRPr lang="es-CO" sz="1600" dirty="0"/>
          </a:p>
        </p:txBody>
      </p:sp>
      <p:pic>
        <p:nvPicPr>
          <p:cNvPr id="19458" name="Picture 2" descr="La diferencia entre Gobernanza y Gestión de T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571" y="3425371"/>
            <a:ext cx="7801430" cy="343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923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Principios de COBIT 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COBIT 5 se basa en cinco principios:</a:t>
            </a:r>
          </a:p>
          <a:p>
            <a:r>
              <a:rPr lang="es-CO" dirty="0"/>
              <a:t>Satisfacer las necesidades de las partes interesadas</a:t>
            </a:r>
          </a:p>
          <a:p>
            <a:r>
              <a:rPr lang="es-CO" dirty="0"/>
              <a:t>Cubrir la organización de extremo a extremo</a:t>
            </a:r>
          </a:p>
          <a:p>
            <a:r>
              <a:rPr lang="es-CO" dirty="0"/>
              <a:t>Aplicar un marco integrado</a:t>
            </a:r>
          </a:p>
          <a:p>
            <a:r>
              <a:rPr lang="es-CO" dirty="0"/>
              <a:t>Enfoque holístico</a:t>
            </a:r>
          </a:p>
          <a:p>
            <a:r>
              <a:rPr lang="es-CO" dirty="0"/>
              <a:t>Separar gobierno y gestión</a:t>
            </a:r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57" y="3964058"/>
            <a:ext cx="5150527" cy="289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1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Relación entre ISO 27001 y COBIT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dirty="0"/>
              <a:t>Ambos frameworks se complementan.</a:t>
            </a:r>
          </a:p>
          <a:p>
            <a:pPr marL="0" indent="0">
              <a:buNone/>
            </a:pPr>
            <a:r>
              <a:rPr lang="es-CO" b="1" dirty="0"/>
              <a:t>ISO 27001</a:t>
            </a:r>
            <a:endParaRPr lang="es-CO" dirty="0"/>
          </a:p>
          <a:p>
            <a:r>
              <a:rPr lang="es-CO" dirty="0"/>
              <a:t>Se enfoca en:</a:t>
            </a:r>
            <a:br>
              <a:rPr lang="es-CO" dirty="0"/>
            </a:br>
            <a:r>
              <a:rPr lang="es-CO" dirty="0"/>
              <a:t>Seguridad de la información</a:t>
            </a:r>
          </a:p>
          <a:p>
            <a:pPr marL="0" indent="0">
              <a:buNone/>
            </a:pPr>
            <a:r>
              <a:rPr lang="es-CO" b="1" dirty="0"/>
              <a:t>COBIT</a:t>
            </a:r>
            <a:endParaRPr lang="es-CO" dirty="0"/>
          </a:p>
          <a:p>
            <a:r>
              <a:rPr lang="es-CO" dirty="0"/>
              <a:t>Se enfoca en:</a:t>
            </a:r>
            <a:br>
              <a:rPr lang="es-CO" dirty="0"/>
            </a:br>
            <a:r>
              <a:rPr lang="es-CO" dirty="0"/>
              <a:t>Gobierno y gestión de TI</a:t>
            </a:r>
          </a:p>
          <a:p>
            <a:pPr marL="0" indent="0">
              <a:buNone/>
            </a:pPr>
            <a:r>
              <a:rPr lang="es-CO" dirty="0"/>
              <a:t>Juntos permiten una gestión tecnológica segura y eficiente.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9951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Ejemplos de incidentes de seguridad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dirty="0"/>
              <a:t>Ejemplos reales incluyen:</a:t>
            </a:r>
          </a:p>
          <a:p>
            <a:r>
              <a:rPr lang="es-CO" dirty="0"/>
              <a:t>filtraciones de datos</a:t>
            </a:r>
          </a:p>
          <a:p>
            <a:r>
              <a:rPr lang="es-CO" dirty="0"/>
              <a:t>accesos no autorizados</a:t>
            </a:r>
          </a:p>
          <a:p>
            <a:r>
              <a:rPr lang="es-CO" dirty="0"/>
              <a:t>robo de información</a:t>
            </a:r>
          </a:p>
          <a:p>
            <a:r>
              <a:rPr lang="es-CO" dirty="0"/>
              <a:t>errores humanos</a:t>
            </a:r>
          </a:p>
          <a:p>
            <a:r>
              <a:rPr lang="es-CO" dirty="0"/>
              <a:t>configuraciones incorrectas</a:t>
            </a:r>
          </a:p>
          <a:p>
            <a:pPr marL="0" indent="0">
              <a:buNone/>
            </a:pPr>
            <a:r>
              <a:rPr lang="es-CO" dirty="0"/>
              <a:t>Muchos incidentes ocurren por </a:t>
            </a:r>
            <a:r>
              <a:rPr lang="es-CO" b="1" dirty="0"/>
              <a:t>errores humanos</a:t>
            </a:r>
            <a:r>
              <a:rPr lang="es-CO" dirty="0"/>
              <a:t>.</a:t>
            </a:r>
          </a:p>
          <a:p>
            <a:endParaRPr lang="es-CO" dirty="0"/>
          </a:p>
        </p:txBody>
      </p:sp>
      <p:pic>
        <p:nvPicPr>
          <p:cNvPr id="20482" name="Picture 2" descr="Qué es un incidente de seguridad y cómo gestionarlo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511" y="3404030"/>
            <a:ext cx="5021489" cy="345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306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Impacto de los incidentes de seguridad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Los incidentes pueden generar:</a:t>
            </a:r>
          </a:p>
          <a:p>
            <a:r>
              <a:rPr lang="es-CO" dirty="0"/>
              <a:t>pérdida de información</a:t>
            </a:r>
          </a:p>
          <a:p>
            <a:r>
              <a:rPr lang="es-CO" dirty="0"/>
              <a:t>daño a la reputación</a:t>
            </a:r>
          </a:p>
          <a:p>
            <a:r>
              <a:rPr lang="es-CO" dirty="0"/>
              <a:t>pérdidas económicas</a:t>
            </a:r>
          </a:p>
          <a:p>
            <a:r>
              <a:rPr lang="es-CO" dirty="0"/>
              <a:t>problemas legales</a:t>
            </a:r>
          </a:p>
          <a:p>
            <a:r>
              <a:rPr lang="es-CO" dirty="0"/>
              <a:t>pérdida de confianza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6220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Más buenas prácticas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También es importante:</a:t>
            </a:r>
          </a:p>
          <a:p>
            <a:r>
              <a:rPr lang="es-CO" dirty="0"/>
              <a:t>No compartir credenciales</a:t>
            </a:r>
          </a:p>
          <a:p>
            <a:r>
              <a:rPr lang="es-CO" dirty="0"/>
              <a:t>No dejar sesiones abiertas</a:t>
            </a:r>
          </a:p>
          <a:p>
            <a:r>
              <a:rPr lang="es-CO" dirty="0"/>
              <a:t>Utilizar gestores de contraseñas</a:t>
            </a:r>
          </a:p>
          <a:p>
            <a:r>
              <a:rPr lang="es-CO" dirty="0"/>
              <a:t>Mantener sistemas actualizados</a:t>
            </a:r>
          </a:p>
          <a:p>
            <a:pPr marL="0" indent="0">
              <a:buNone/>
            </a:pP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2940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Seguridad en desarrollo de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Los desarrolladores deben:</a:t>
            </a:r>
          </a:p>
          <a:p>
            <a:r>
              <a:rPr lang="es-CO" dirty="0"/>
              <a:t>Proteger repositorios de código</a:t>
            </a:r>
          </a:p>
          <a:p>
            <a:r>
              <a:rPr lang="es-CO" dirty="0"/>
              <a:t>Controlar accesos a proyectos</a:t>
            </a:r>
          </a:p>
          <a:p>
            <a:r>
              <a:rPr lang="es-CO" dirty="0"/>
              <a:t>Revisar cambios en el código</a:t>
            </a:r>
          </a:p>
          <a:p>
            <a:r>
              <a:rPr lang="es-CO" dirty="0"/>
              <a:t>Evitar exponer credenciales</a:t>
            </a:r>
          </a:p>
          <a:p>
            <a:pPr marL="0" indent="0">
              <a:buNone/>
            </a:pPr>
            <a:r>
              <a:rPr lang="es-CO" dirty="0"/>
              <a:t>La seguridad también es responsabilidad del desarrollador.</a:t>
            </a:r>
          </a:p>
          <a:p>
            <a:endParaRPr lang="es-CO" dirty="0"/>
          </a:p>
        </p:txBody>
      </p:sp>
      <p:pic>
        <p:nvPicPr>
          <p:cNvPr id="21506" name="Picture 2" descr="Buenas prácticas para un desarrollo seg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157" y="2452430"/>
            <a:ext cx="4148340" cy="276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921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Quiz para la clase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340" y="2673135"/>
            <a:ext cx="3191320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59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La seguridad de la información es fundamental en cualquier organización</a:t>
            </a:r>
            <a:r>
              <a:rPr lang="es-CO" dirty="0" smtClean="0"/>
              <a:t>.</a:t>
            </a:r>
          </a:p>
          <a:p>
            <a:r>
              <a:rPr lang="es-CO" dirty="0" smtClean="0"/>
              <a:t>Pequeños </a:t>
            </a:r>
            <a:r>
              <a:rPr lang="es-CO" dirty="0"/>
              <a:t>descuidos pueden generar grandes incidentes</a:t>
            </a:r>
            <a:r>
              <a:rPr lang="es-CO" dirty="0" smtClean="0"/>
              <a:t>.</a:t>
            </a:r>
          </a:p>
          <a:p>
            <a:r>
              <a:rPr lang="es-CO" dirty="0" smtClean="0"/>
              <a:t>Frameworks </a:t>
            </a:r>
            <a:r>
              <a:rPr lang="es-CO" dirty="0"/>
              <a:t>como ISO 27001 y COBIT 5 ayudan a gestionar la seguridad</a:t>
            </a:r>
            <a:r>
              <a:rPr lang="es-CO" dirty="0" smtClean="0"/>
              <a:t>.</a:t>
            </a:r>
          </a:p>
          <a:p>
            <a:r>
              <a:rPr lang="es-CO" dirty="0" smtClean="0"/>
              <a:t>Todos </a:t>
            </a:r>
            <a:r>
              <a:rPr lang="es-CO" dirty="0"/>
              <a:t>los usuarios y desarrolladores deben aplicar buenas prácticas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3872357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30088" y="2419047"/>
            <a:ext cx="9601196" cy="1303867"/>
          </a:xfrm>
        </p:spPr>
        <p:txBody>
          <a:bodyPr>
            <a:noAutofit/>
          </a:bodyPr>
          <a:lstStyle/>
          <a:p>
            <a:r>
              <a:rPr lang="es-CO" sz="9600" dirty="0" smtClean="0"/>
              <a:t>GRACIAS</a:t>
            </a:r>
            <a:endParaRPr lang="es-CO" sz="9600" dirty="0"/>
          </a:p>
        </p:txBody>
      </p:sp>
      <p:pic>
        <p:nvPicPr>
          <p:cNvPr id="5" name="Picture 2" descr="Cómo se relaciona COBIT 5 y la seguridad de la información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738" y="4036422"/>
            <a:ext cx="5909319" cy="237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593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129</TotalTime>
  <Words>826</Words>
  <Application>Microsoft Office PowerPoint</Application>
  <PresentationFormat>Panorámica</PresentationFormat>
  <Paragraphs>166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Arial</vt:lpstr>
      <vt:lpstr>Garamond</vt:lpstr>
      <vt:lpstr>Orgánico</vt:lpstr>
      <vt:lpstr>Seguridad de la Información y Gobierno de TIISO/IEC 27001 y COBIT 5</vt:lpstr>
      <vt:lpstr>Contexto del incidente</vt:lpstr>
      <vt:lpstr>¿Por qué es un problema?</vt:lpstr>
      <vt:lpstr>¿Qué es la Seguridad de la Información?</vt:lpstr>
      <vt:lpstr>Principios de la seguridad de la información</vt:lpstr>
      <vt:lpstr>Confidencialidad</vt:lpstr>
      <vt:lpstr>Integridad</vt:lpstr>
      <vt:lpstr>Disponibilidad</vt:lpstr>
      <vt:lpstr>Amenazas comunes en entornos digitales</vt:lpstr>
      <vt:lpstr>¿Qué es ISO/IEC 27001?</vt:lpstr>
      <vt:lpstr>Sistema de Gestión de Seguridad de la Información (SGSI)</vt:lpstr>
      <vt:lpstr>Ciclo de mejora continua (PDCA)</vt:lpstr>
      <vt:lpstr>Controles de seguridad</vt:lpstr>
      <vt:lpstr>Control de accesos</vt:lpstr>
      <vt:lpstr>Principio de mínimo privilegio</vt:lpstr>
      <vt:lpstr>¿Qué es COBIT 5?</vt:lpstr>
      <vt:lpstr>Gobierno de TI vs Gestión de TI</vt:lpstr>
      <vt:lpstr>Principios de COBIT 5</vt:lpstr>
      <vt:lpstr>Relación entre ISO 27001 y COBIT</vt:lpstr>
      <vt:lpstr>Ejemplos de incidentes de seguridad</vt:lpstr>
      <vt:lpstr>Impacto de los incidentes de seguridad</vt:lpstr>
      <vt:lpstr>Más buenas prácticas</vt:lpstr>
      <vt:lpstr>Seguridad en desarrollo de software</vt:lpstr>
      <vt:lpstr>Quiz para la clase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 la Información y Gobierno de TIISO/IEC 27001 y COBIT 5</dc:title>
  <dc:creator>JUAN</dc:creator>
  <cp:lastModifiedBy>JUAN</cp:lastModifiedBy>
  <cp:revision>11</cp:revision>
  <dcterms:created xsi:type="dcterms:W3CDTF">2026-03-16T18:47:01Z</dcterms:created>
  <dcterms:modified xsi:type="dcterms:W3CDTF">2026-03-16T20:56:27Z</dcterms:modified>
</cp:coreProperties>
</file>